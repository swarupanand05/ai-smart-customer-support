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70" r:id="rId2"/>
    <p:sldId id="256" r:id="rId3"/>
    <p:sldId id="257" r:id="rId4"/>
    <p:sldId id="260" r:id="rId5"/>
    <p:sldId id="259" r:id="rId6"/>
    <p:sldId id="269" r:id="rId7"/>
    <p:sldId id="261" r:id="rId8"/>
    <p:sldId id="262" r:id="rId9"/>
    <p:sldId id="263" r:id="rId10"/>
    <p:sldId id="267" r:id="rId11"/>
    <p:sldId id="265" r:id="rId12"/>
  </p:sldIdLst>
  <p:sldSz cx="14630400" cy="8229600"/>
  <p:notesSz cx="8229600" cy="14630400"/>
  <p:embeddedFontLst>
    <p:embeddedFont>
      <p:font typeface="Algerian" panose="04020705040A02060702" pitchFamily="82" charset="0"/>
      <p:regular r:id="rId14"/>
    </p:embeddedFont>
    <p:embeddedFont>
      <p:font typeface="Inter" panose="020B0604020202020204" charset="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46" d="100"/>
          <a:sy n="46" d="100"/>
        </p:scale>
        <p:origin x="1266" y="3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174519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483531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2556511"/>
            <a:ext cx="12435840" cy="176403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194560" y="4663440"/>
            <a:ext cx="10241280" cy="210312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5486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972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6459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1945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2918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840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3891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82042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13" Type="http://schemas.openxmlformats.org/officeDocument/2006/relationships/image" Target="../media/image3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sv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.png"/><Relationship Id="rId4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28240" y="1463039"/>
            <a:ext cx="9326880" cy="1764030"/>
          </a:xfrm>
        </p:spPr>
        <p:txBody>
          <a:bodyPr>
            <a:noAutofit/>
          </a:bodyPr>
          <a:lstStyle/>
          <a:p>
            <a:r>
              <a:rPr sz="6000" b="1" dirty="0">
                <a:solidFill>
                  <a:srgbClr val="FF0000"/>
                </a:solidFill>
                <a:latin typeface="Algerian" panose="04020705040A02060702" pitchFamily="82" charset="0"/>
              </a:rPr>
              <a:t>AI Smart Customer Support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949440" y="3860802"/>
            <a:ext cx="6633210" cy="2905759"/>
          </a:xfrm>
        </p:spPr>
        <p:txBody>
          <a:bodyPr>
            <a:normAutofit/>
          </a:bodyPr>
          <a:lstStyle/>
          <a:p>
            <a:pPr algn="l"/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Group Members:</a:t>
            </a:r>
          </a:p>
          <a:p>
            <a:pPr algn="l"/>
            <a:r>
              <a:rPr lang="en-US" sz="288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1)</a:t>
            </a:r>
            <a:r>
              <a:rPr lang="en-US" sz="288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Swarupanand</a:t>
            </a:r>
            <a:r>
              <a:rPr lang="en-US" sz="288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8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Bajbalkar</a:t>
            </a:r>
            <a:endParaRPr lang="en-US" sz="288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288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2)Samruddhi </a:t>
            </a:r>
            <a:r>
              <a:rPr lang="en-US" sz="288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Shingade</a:t>
            </a:r>
            <a:endParaRPr lang="en-US" sz="288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288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3)Rutuja Puranik</a:t>
            </a:r>
          </a:p>
          <a:p>
            <a:pPr algn="l"/>
            <a:r>
              <a:rPr lang="en-US" sz="288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4)Mrudula </a:t>
            </a:r>
            <a:r>
              <a:rPr lang="en-US" sz="288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Waghmode</a:t>
            </a:r>
            <a:endParaRPr sz="288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58B5682-AC0D-CC38-363B-5834BC146558}"/>
              </a:ext>
            </a:extLst>
          </p:cNvPr>
          <p:cNvSpPr txBox="1"/>
          <p:nvPr/>
        </p:nvSpPr>
        <p:spPr>
          <a:xfrm>
            <a:off x="828674" y="6553200"/>
            <a:ext cx="692467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 Guidance of:</a:t>
            </a:r>
          </a:p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Miss . Varsha Kamble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71498" y="996315"/>
            <a:ext cx="7527369" cy="525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Times New Roman" panose="02020603050405020304" pitchFamily="18" charset="0"/>
                <a:ea typeface="Crimson Text Bold" pitchFamily="34" charset="-122"/>
                <a:cs typeface="Times New Roman" panose="02020603050405020304" pitchFamily="18" charset="0"/>
              </a:rPr>
              <a:t>The Challenge: </a:t>
            </a:r>
            <a:r>
              <a:rPr lang="en-US" sz="1600" b="1" dirty="0">
                <a:solidFill>
                  <a:srgbClr val="F04D00"/>
                </a:solidFill>
                <a:latin typeface="Times New Roman" panose="02020603050405020304" pitchFamily="18" charset="0"/>
                <a:ea typeface="Crimson Text Bold" pitchFamily="34" charset="-122"/>
                <a:cs typeface="Times New Roman" panose="02020603050405020304" pitchFamily="18" charset="0"/>
              </a:rPr>
              <a:t>Broken Customer Support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6271498" y="1711285"/>
            <a:ext cx="7573804" cy="471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Most organizations struggle with traditional customer support systems that are slow, manual, and inefficient, leading to dissatisfied customers and operational bottlenecks.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2"/>
          <p:cNvSpPr/>
          <p:nvPr/>
        </p:nvSpPr>
        <p:spPr>
          <a:xfrm>
            <a:off x="6271498" y="2324219"/>
            <a:ext cx="7573804" cy="956072"/>
          </a:xfrm>
          <a:prstGeom prst="roundRect">
            <a:avLst>
              <a:gd name="adj" fmla="val 11477"/>
            </a:avLst>
          </a:prstGeom>
          <a:solidFill>
            <a:srgbClr val="FFFFFF"/>
          </a:solidFill>
          <a:ln w="22860">
            <a:solidFill>
              <a:srgbClr val="E5C2B2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248638" y="2324219"/>
            <a:ext cx="91440" cy="956072"/>
          </a:xfrm>
          <a:prstGeom prst="roundRect">
            <a:avLst>
              <a:gd name="adj" fmla="val 77281"/>
            </a:avLst>
          </a:prstGeom>
          <a:solidFill>
            <a:srgbClr val="F04D00"/>
          </a:solidFill>
          <a:ln/>
        </p:spPr>
      </p:sp>
      <p:sp>
        <p:nvSpPr>
          <p:cNvPr id="7" name="Text 4"/>
          <p:cNvSpPr/>
          <p:nvPr/>
        </p:nvSpPr>
        <p:spPr>
          <a:xfrm>
            <a:off x="6531173" y="2515314"/>
            <a:ext cx="2259806" cy="2627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Times New Roman" panose="02020603050405020304" pitchFamily="18" charset="0"/>
                <a:ea typeface="Crimson Text Bold" pitchFamily="34" charset="-122"/>
                <a:cs typeface="Times New Roman" panose="02020603050405020304" pitchFamily="18" charset="0"/>
              </a:rPr>
              <a:t>Slow &amp; Manual Processes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6531173" y="2853690"/>
            <a:ext cx="7123033" cy="2355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Reliance on manual effort for every query causes significant delays and limits scalability.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6271498" y="3406378"/>
            <a:ext cx="7573804" cy="1191577"/>
          </a:xfrm>
          <a:prstGeom prst="roundRect">
            <a:avLst>
              <a:gd name="adj" fmla="val 9209"/>
            </a:avLst>
          </a:prstGeom>
          <a:solidFill>
            <a:srgbClr val="FFFFFF"/>
          </a:solidFill>
          <a:ln w="22860">
            <a:solidFill>
              <a:srgbClr val="E5C2B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248638" y="3406378"/>
            <a:ext cx="91440" cy="1191577"/>
          </a:xfrm>
          <a:prstGeom prst="roundRect">
            <a:avLst>
              <a:gd name="adj" fmla="val 77281"/>
            </a:avLst>
          </a:prstGeom>
          <a:solidFill>
            <a:srgbClr val="F04D00"/>
          </a:solidFill>
          <a:ln/>
        </p:spPr>
      </p:sp>
      <p:sp>
        <p:nvSpPr>
          <p:cNvPr id="11" name="Text 8"/>
          <p:cNvSpPr/>
          <p:nvPr/>
        </p:nvSpPr>
        <p:spPr>
          <a:xfrm>
            <a:off x="6531173" y="3597473"/>
            <a:ext cx="2468761" cy="2627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Times New Roman" panose="02020603050405020304" pitchFamily="18" charset="0"/>
                <a:ea typeface="Crimson Text Bold" pitchFamily="34" charset="-122"/>
                <a:cs typeface="Times New Roman" panose="02020603050405020304" pitchFamily="18" charset="0"/>
              </a:rPr>
              <a:t>Poor Customer Satisfaction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6531173" y="3935849"/>
            <a:ext cx="7123033" cy="471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Delayed responses and unresolved issues lead to frustrated customers and damaged brand loyalty.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6271498" y="4724043"/>
            <a:ext cx="7573804" cy="1191577"/>
          </a:xfrm>
          <a:prstGeom prst="roundRect">
            <a:avLst>
              <a:gd name="adj" fmla="val 9209"/>
            </a:avLst>
          </a:prstGeom>
          <a:solidFill>
            <a:srgbClr val="FFFFFF"/>
          </a:solidFill>
          <a:ln w="22860">
            <a:solidFill>
              <a:srgbClr val="E5C2B2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248638" y="4724043"/>
            <a:ext cx="91440" cy="1191577"/>
          </a:xfrm>
          <a:prstGeom prst="roundRect">
            <a:avLst>
              <a:gd name="adj" fmla="val 77281"/>
            </a:avLst>
          </a:prstGeom>
          <a:solidFill>
            <a:srgbClr val="F04D00"/>
          </a:solidFill>
          <a:ln/>
        </p:spPr>
      </p:sp>
      <p:sp>
        <p:nvSpPr>
          <p:cNvPr id="15" name="Text 12"/>
          <p:cNvSpPr/>
          <p:nvPr/>
        </p:nvSpPr>
        <p:spPr>
          <a:xfrm>
            <a:off x="6531173" y="4915138"/>
            <a:ext cx="2103120" cy="2627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Times New Roman" panose="02020603050405020304" pitchFamily="18" charset="0"/>
                <a:ea typeface="Crimson Text Bold" pitchFamily="34" charset="-122"/>
                <a:cs typeface="Times New Roman" panose="02020603050405020304" pitchFamily="18" charset="0"/>
              </a:rPr>
              <a:t>No Intelligent Routing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6531173" y="5253514"/>
            <a:ext cx="7123033" cy="471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Manual ticket categorization is error-prone and prevents quick resolution by the right team.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6271498" y="6041707"/>
            <a:ext cx="7573804" cy="1191577"/>
          </a:xfrm>
          <a:prstGeom prst="roundRect">
            <a:avLst>
              <a:gd name="adj" fmla="val 9209"/>
            </a:avLst>
          </a:prstGeom>
          <a:solidFill>
            <a:srgbClr val="FFFFFF"/>
          </a:solidFill>
          <a:ln w="22860">
            <a:solidFill>
              <a:srgbClr val="E5C2B2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248638" y="6041707"/>
            <a:ext cx="91440" cy="1191577"/>
          </a:xfrm>
          <a:prstGeom prst="roundRect">
            <a:avLst>
              <a:gd name="adj" fmla="val 77281"/>
            </a:avLst>
          </a:prstGeom>
          <a:solidFill>
            <a:srgbClr val="F04D00"/>
          </a:solidFill>
          <a:ln/>
        </p:spPr>
      </p:sp>
      <p:sp>
        <p:nvSpPr>
          <p:cNvPr id="19" name="Text 16"/>
          <p:cNvSpPr/>
          <p:nvPr/>
        </p:nvSpPr>
        <p:spPr>
          <a:xfrm>
            <a:off x="6531173" y="6232803"/>
            <a:ext cx="2103120" cy="2627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Times New Roman" panose="02020603050405020304" pitchFamily="18" charset="0"/>
                <a:ea typeface="Crimson Text Bold" pitchFamily="34" charset="-122"/>
                <a:cs typeface="Times New Roman" panose="02020603050405020304" pitchFamily="18" charset="0"/>
              </a:rPr>
              <a:t>Missed Emotional Cues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6531173" y="6571178"/>
            <a:ext cx="7123033" cy="471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Lack of sentiment detection means critical customer frustration often goes unnoticed and unaddressed.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7ED50CC8-C593-6030-C651-0523EAC32B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60359" y="7686602"/>
            <a:ext cx="3281463" cy="45734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7241" y="619839"/>
            <a:ext cx="10273070" cy="6677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4200" b="1" dirty="0">
                <a:solidFill>
                  <a:srgbClr val="000000"/>
                </a:solidFill>
                <a:latin typeface="Times New Roman" panose="02020603050405020304" pitchFamily="18" charset="0"/>
                <a:ea typeface="Crimson Text Bold" pitchFamily="34" charset="-122"/>
                <a:cs typeface="Times New Roman" panose="02020603050405020304" pitchFamily="18" charset="0"/>
              </a:rPr>
              <a:t>Objective: </a:t>
            </a:r>
            <a:r>
              <a:rPr lang="en-US" sz="4200" b="1" dirty="0">
                <a:solidFill>
                  <a:srgbClr val="F04D00"/>
                </a:solidFill>
                <a:latin typeface="Times New Roman" panose="02020603050405020304" pitchFamily="18" charset="0"/>
                <a:ea typeface="Crimson Text Bold" pitchFamily="34" charset="-122"/>
                <a:cs typeface="Times New Roman" panose="02020603050405020304" pitchFamily="18" charset="0"/>
              </a:rPr>
              <a:t>AI-Smart Customer Support</a:t>
            </a:r>
            <a:endParaRPr lang="en-US" sz="4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87241" y="1693545"/>
            <a:ext cx="13055918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We propose an advanced system designed to revolutionize customer support through AI, automation, and intelligent insights.</a:t>
            </a:r>
            <a:endParaRPr lang="en-US" sz="1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787241" y="2255282"/>
            <a:ext cx="4216598" cy="2742367"/>
          </a:xfrm>
          <a:prstGeom prst="roundRect">
            <a:avLst>
              <a:gd name="adj" fmla="val 3273"/>
            </a:avLst>
          </a:prstGeom>
          <a:solidFill>
            <a:srgbClr val="FFDCCC"/>
          </a:solidFill>
          <a:ln w="7620">
            <a:solidFill>
              <a:srgbClr val="E5C2B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8459" y="2476500"/>
            <a:ext cx="641033" cy="641033"/>
          </a:xfrm>
          <a:prstGeom prst="roundRect">
            <a:avLst>
              <a:gd name="adj" fmla="val 14263050"/>
            </a:avLst>
          </a:prstGeom>
          <a:solidFill>
            <a:srgbClr val="F04D00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84672" y="2652713"/>
            <a:ext cx="288488" cy="2884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8459" y="3320534"/>
            <a:ext cx="2671286" cy="3339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Times New Roman" panose="02020603050405020304" pitchFamily="18" charset="0"/>
                <a:ea typeface="Crimson Text Bold" pitchFamily="34" charset="-122"/>
                <a:cs typeface="Times New Roman" panose="02020603050405020304" pitchFamily="18" charset="0"/>
              </a:rPr>
              <a:t>Instant AI Chatbot</a:t>
            </a:r>
            <a:endParaRPr 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1008459" y="3776305"/>
            <a:ext cx="3774162" cy="1000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Provides immediate assistance for common queries, reducing human intervention.</a:t>
            </a:r>
            <a:endParaRPr lang="en-US" sz="1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5206841" y="2255282"/>
            <a:ext cx="4216598" cy="2742367"/>
          </a:xfrm>
          <a:prstGeom prst="roundRect">
            <a:avLst>
              <a:gd name="adj" fmla="val 3273"/>
            </a:avLst>
          </a:prstGeom>
          <a:solidFill>
            <a:srgbClr val="FFDCCC"/>
          </a:solidFill>
          <a:ln w="7620">
            <a:solidFill>
              <a:srgbClr val="E5C2B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428059" y="2476500"/>
            <a:ext cx="641033" cy="641033"/>
          </a:xfrm>
          <a:prstGeom prst="roundRect">
            <a:avLst>
              <a:gd name="adj" fmla="val 14263050"/>
            </a:avLst>
          </a:prstGeom>
          <a:solidFill>
            <a:srgbClr val="F04D00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604272" y="2652713"/>
            <a:ext cx="288488" cy="28848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28059" y="3320534"/>
            <a:ext cx="3165872" cy="3339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Times New Roman" panose="02020603050405020304" pitchFamily="18" charset="0"/>
                <a:ea typeface="Crimson Text Bold" pitchFamily="34" charset="-122"/>
                <a:cs typeface="Times New Roman" panose="02020603050405020304" pitchFamily="18" charset="0"/>
              </a:rPr>
              <a:t>Automated Ticket Creation</a:t>
            </a:r>
            <a:endParaRPr 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9"/>
          <p:cNvSpPr/>
          <p:nvPr/>
        </p:nvSpPr>
        <p:spPr>
          <a:xfrm>
            <a:off x="5428059" y="3776305"/>
            <a:ext cx="3774162" cy="1000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Seamlessly escalates complex issues to human agents with automatic ticket generation.</a:t>
            </a:r>
            <a:endParaRPr lang="en-US" sz="1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0"/>
          <p:cNvSpPr/>
          <p:nvPr/>
        </p:nvSpPr>
        <p:spPr>
          <a:xfrm>
            <a:off x="9626441" y="2255282"/>
            <a:ext cx="4216598" cy="2742367"/>
          </a:xfrm>
          <a:prstGeom prst="roundRect">
            <a:avLst>
              <a:gd name="adj" fmla="val 3273"/>
            </a:avLst>
          </a:prstGeom>
          <a:solidFill>
            <a:srgbClr val="FFDCCC"/>
          </a:solidFill>
          <a:ln w="7620">
            <a:solidFill>
              <a:srgbClr val="E5C2B2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9847659" y="2476500"/>
            <a:ext cx="641033" cy="641033"/>
          </a:xfrm>
          <a:prstGeom prst="roundRect">
            <a:avLst>
              <a:gd name="adj" fmla="val 14263050"/>
            </a:avLst>
          </a:prstGeom>
          <a:solidFill>
            <a:srgbClr val="F04D00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023872" y="2652713"/>
            <a:ext cx="288488" cy="28848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847659" y="3320534"/>
            <a:ext cx="2759869" cy="3339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Times New Roman" panose="02020603050405020304" pitchFamily="18" charset="0"/>
                <a:ea typeface="Crimson Text Bold" pitchFamily="34" charset="-122"/>
                <a:cs typeface="Times New Roman" panose="02020603050405020304" pitchFamily="18" charset="0"/>
              </a:rPr>
              <a:t>NLP Sentiment &amp; Intent</a:t>
            </a:r>
            <a:endParaRPr 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3"/>
          <p:cNvSpPr/>
          <p:nvPr/>
        </p:nvSpPr>
        <p:spPr>
          <a:xfrm>
            <a:off x="9847659" y="3776305"/>
            <a:ext cx="3774162" cy="1000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Utilizes Natural Language Processing to understand customer emotion and query purpose.</a:t>
            </a:r>
            <a:endParaRPr lang="en-US" sz="1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14"/>
          <p:cNvSpPr/>
          <p:nvPr/>
        </p:nvSpPr>
        <p:spPr>
          <a:xfrm>
            <a:off x="787241" y="5200650"/>
            <a:ext cx="6426398" cy="2408992"/>
          </a:xfrm>
          <a:prstGeom prst="roundRect">
            <a:avLst>
              <a:gd name="adj" fmla="val 3726"/>
            </a:avLst>
          </a:prstGeom>
          <a:solidFill>
            <a:srgbClr val="FFDCCC"/>
          </a:solidFill>
          <a:ln w="7620">
            <a:solidFill>
              <a:srgbClr val="E5C2B2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1008459" y="5421868"/>
            <a:ext cx="641033" cy="641033"/>
          </a:xfrm>
          <a:prstGeom prst="roundRect">
            <a:avLst>
              <a:gd name="adj" fmla="val 14263050"/>
            </a:avLst>
          </a:prstGeom>
          <a:solidFill>
            <a:srgbClr val="F04D00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84672" y="5598081"/>
            <a:ext cx="288488" cy="28848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008459" y="6265902"/>
            <a:ext cx="2671286" cy="3339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Times New Roman" panose="02020603050405020304" pitchFamily="18" charset="0"/>
                <a:ea typeface="Crimson Text Bold" pitchFamily="34" charset="-122"/>
                <a:cs typeface="Times New Roman" panose="02020603050405020304" pitchFamily="18" charset="0"/>
              </a:rPr>
              <a:t>Rich Admin Panel</a:t>
            </a:r>
            <a:endParaRPr 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17"/>
          <p:cNvSpPr/>
          <p:nvPr/>
        </p:nvSpPr>
        <p:spPr>
          <a:xfrm>
            <a:off x="1008459" y="6721673"/>
            <a:ext cx="5983962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Offers detailed analytics and visual reports for informed decision-making and performance improvement.</a:t>
            </a:r>
            <a:endParaRPr lang="en-US" sz="1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Shape 18"/>
          <p:cNvSpPr/>
          <p:nvPr/>
        </p:nvSpPr>
        <p:spPr>
          <a:xfrm>
            <a:off x="7416641" y="5200650"/>
            <a:ext cx="6426398" cy="2408992"/>
          </a:xfrm>
          <a:prstGeom prst="roundRect">
            <a:avLst>
              <a:gd name="adj" fmla="val 3726"/>
            </a:avLst>
          </a:prstGeom>
          <a:solidFill>
            <a:srgbClr val="FFDCCC"/>
          </a:solidFill>
          <a:ln w="7620">
            <a:solidFill>
              <a:srgbClr val="E5C2B2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7637859" y="5421868"/>
            <a:ext cx="641033" cy="641033"/>
          </a:xfrm>
          <a:prstGeom prst="roundRect">
            <a:avLst>
              <a:gd name="adj" fmla="val 14263050"/>
            </a:avLst>
          </a:prstGeom>
          <a:solidFill>
            <a:srgbClr val="F04D00"/>
          </a:solidFill>
          <a:ln/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814072" y="5598081"/>
            <a:ext cx="288488" cy="28848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7637859" y="6265902"/>
            <a:ext cx="2671286" cy="3339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Times New Roman" panose="02020603050405020304" pitchFamily="18" charset="0"/>
                <a:ea typeface="Crimson Text Bold" pitchFamily="34" charset="-122"/>
                <a:cs typeface="Times New Roman" panose="02020603050405020304" pitchFamily="18" charset="0"/>
              </a:rPr>
              <a:t>Secure Authentication</a:t>
            </a:r>
            <a:endParaRPr 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21"/>
          <p:cNvSpPr/>
          <p:nvPr/>
        </p:nvSpPr>
        <p:spPr>
          <a:xfrm>
            <a:off x="7637859" y="6721673"/>
            <a:ext cx="5983962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Ensures data protection with industry-standard JWT for authorized access.</a:t>
            </a:r>
            <a:endParaRPr lang="en-US" sz="1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26370209-DA59-4B14-4D0A-8ED546862172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260359" y="7686602"/>
            <a:ext cx="3281463" cy="45734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835235"/>
          </a:xfrm>
          <a:prstGeom prst="rect">
            <a:avLst/>
          </a:prstGeom>
        </p:spPr>
      </p:pic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1D1752D1-DF0F-F8D2-F5C3-8276AC735B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 bwMode="auto">
          <a:xfrm>
            <a:off x="3130153" y="2865121"/>
            <a:ext cx="8818737" cy="50311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 0"/>
          <p:cNvSpPr/>
          <p:nvPr/>
        </p:nvSpPr>
        <p:spPr>
          <a:xfrm>
            <a:off x="346115" y="68342"/>
            <a:ext cx="768917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Times New Roman" panose="02020603050405020304" pitchFamily="18" charset="0"/>
                <a:ea typeface="Crimson Text Bold" pitchFamily="34" charset="-122"/>
                <a:cs typeface="Times New Roman" panose="02020603050405020304" pitchFamily="18" charset="0"/>
              </a:rPr>
              <a:t>System Architecture: </a:t>
            </a:r>
            <a:r>
              <a:rPr lang="en-US" sz="4450" b="1" dirty="0">
                <a:solidFill>
                  <a:srgbClr val="F04D00"/>
                </a:solidFill>
                <a:latin typeface="Times New Roman" panose="02020603050405020304" pitchFamily="18" charset="0"/>
                <a:ea typeface="Crimson Text Bold" pitchFamily="34" charset="-122"/>
                <a:cs typeface="Times New Roman" panose="02020603050405020304" pitchFamily="18" charset="0"/>
              </a:rPr>
              <a:t>Overview</a:t>
            </a:r>
            <a:endParaRPr lang="en-US" sz="4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1"/>
          <p:cNvSpPr/>
          <p:nvPr/>
        </p:nvSpPr>
        <p:spPr>
          <a:xfrm>
            <a:off x="346115" y="1069658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This diagram illustrates the interconnected components of our AI-powered customer support system, highlighting the flow of data and interactions.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2"/>
          <p:cNvSpPr/>
          <p:nvPr/>
        </p:nvSpPr>
        <p:spPr>
          <a:xfrm>
            <a:off x="346115" y="1907738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The architecture is designed for modularity, scalability, and efficiency, integrating various technologies to deliver a seamless customer support experience.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CB4F8B5-39AC-6BF0-7B47-800655082BC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60359" y="7686602"/>
            <a:ext cx="3281463" cy="45734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22519" y="136527"/>
            <a:ext cx="4785360" cy="737234"/>
          </a:xfrm>
        </p:spPr>
        <p:txBody>
          <a:bodyPr>
            <a:normAutofit fontScale="90000"/>
          </a:bodyPr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06318" y="873762"/>
            <a:ext cx="9875520" cy="681291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React Frontend (UI Layer)</a:t>
            </a:r>
          </a:p>
          <a:p>
            <a:pPr marL="0" indent="0">
              <a:buNone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Working: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Shows all screens: Login, Chatbot, Tickets, Dashboard</a:t>
            </a:r>
          </a:p>
          <a:p>
            <a:pPr marL="0" indent="0"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Sends/receives data via API (Axios/Fetch)</a:t>
            </a:r>
          </a:p>
          <a:p>
            <a:pPr marL="0" indent="0"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Displays chatbot replies, ticket status &amp; analytics</a:t>
            </a:r>
          </a:p>
          <a:p>
            <a:pPr marL="0" indent="0">
              <a:buNone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Why: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Fast UI, real-time interaction, smooth API integration</a:t>
            </a:r>
          </a:p>
          <a:p>
            <a:pPr marL="0" indent="0">
              <a:buNone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.NET Core Backend API (Main Logic Layer)</a:t>
            </a:r>
          </a:p>
          <a:p>
            <a:pPr marL="0" indent="0">
              <a:buNone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Working: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Handles all business logic</a:t>
            </a:r>
          </a:p>
          <a:p>
            <a:pPr marL="0" indent="0"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Validates users via JWT</a:t>
            </a:r>
          </a:p>
          <a:p>
            <a:pPr marL="0" indent="0"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Manages tickets, users, analytics</a:t>
            </a:r>
          </a:p>
          <a:p>
            <a:pPr marL="0" indent="0"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Communicates with SQL Server, MongoDB &amp; AI service</a:t>
            </a:r>
          </a:p>
          <a:p>
            <a:pPr marL="0" indent="0">
              <a:buNone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Why: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Secure, fast, scalable, industry-standard</a:t>
            </a:r>
          </a:p>
          <a:p>
            <a:pPr marL="0" indent="0">
              <a:buNone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3. SQL Server (Authentication DB)</a:t>
            </a:r>
          </a:p>
          <a:p>
            <a:pPr marL="0" indent="0">
              <a:buNone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Stores: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Users, Password Hash, Role (User/Admin)</a:t>
            </a:r>
          </a:p>
          <a:p>
            <a:pPr marL="0" indent="0">
              <a:buNone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Why: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Best for structured relational data</a:t>
            </a:r>
          </a:p>
          <a:p>
            <a:pPr marL="0" indent="0"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Highly secure login system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4824B2-9709-C744-4641-9FAFD2424D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E353B1-88C9-6A0D-38A2-659A4835F3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90240" y="156845"/>
            <a:ext cx="8249920" cy="737234"/>
          </a:xfrm>
        </p:spPr>
        <p:txBody>
          <a:bodyPr>
            <a:normAutofit fontScale="90000"/>
          </a:bodyPr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Technology Stack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960E88-FAFB-A701-9E84-741864F494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77440" y="907414"/>
            <a:ext cx="9875520" cy="728916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MongoDB (Tickets + Chat DB)</a:t>
            </a:r>
          </a:p>
          <a:p>
            <a:pPr marL="0" indent="0">
              <a:buNone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Stores: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Tickets, chat logs, sentiment, classifications</a:t>
            </a:r>
          </a:p>
          <a:p>
            <a:pPr marL="0" indent="0">
              <a:buNone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Why: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Flexible schema</a:t>
            </a:r>
          </a:p>
          <a:p>
            <a:pPr marL="0" indent="0"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 read/write</a:t>
            </a:r>
          </a:p>
          <a:p>
            <a:pPr marL="0" indent="0"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Perfect for unstructured support data</a:t>
            </a:r>
          </a:p>
          <a:p>
            <a:pPr marL="0" indent="0">
              <a:buNone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5. Node.js AI Microservice (ML/NLP Engine)</a:t>
            </a:r>
          </a:p>
          <a:p>
            <a:pPr marL="0" indent="0">
              <a:buNone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Working: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Receives messages from backend</a:t>
            </a:r>
          </a:p>
          <a:p>
            <a:pPr marL="0" indent="0"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Predicts sentiment, intent, category</a:t>
            </a:r>
          </a:p>
          <a:p>
            <a:pPr marL="0" indent="0"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Generates chatbot replies</a:t>
            </a:r>
          </a:p>
          <a:p>
            <a:pPr marL="0" indent="0">
              <a:buNone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Why: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Runs AI separately → better performance</a:t>
            </a:r>
          </a:p>
          <a:p>
            <a:pPr marL="0" indent="0"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 to upgrade ML models</a:t>
            </a:r>
          </a:p>
          <a:p>
            <a:pPr marL="0" indent="0">
              <a:buNone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Chatbot Engine (Rule-based + AI)</a:t>
            </a:r>
          </a:p>
          <a:p>
            <a:pPr marL="0" indent="0">
              <a:buNone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Working: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Answers common queries using predefined rules</a:t>
            </a:r>
          </a:p>
          <a:p>
            <a:pPr marL="0" indent="0"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AI for advanced replies</a:t>
            </a:r>
          </a:p>
          <a:p>
            <a:pPr marL="0" indent="0"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Creates tickets when unable to answer</a:t>
            </a:r>
          </a:p>
          <a:p>
            <a:pPr marL="0" indent="0">
              <a:buNone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b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User: </a:t>
            </a:r>
            <a:r>
              <a:rPr lang="en-I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“I am frustrated.”</a:t>
            </a:r>
            <a:b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Bot: </a:t>
            </a:r>
            <a:r>
              <a:rPr lang="en-I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“I’m sorry for the trouble, creating a ticket now.”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04961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4221" y="341233"/>
            <a:ext cx="4670822" cy="3295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just">
              <a:buNone/>
            </a:pPr>
            <a:r>
              <a:rPr lang="en-US" sz="1600" b="1" dirty="0">
                <a:solidFill>
                  <a:srgbClr val="000000"/>
                </a:solidFill>
                <a:latin typeface="Times New Roman" panose="02020603050405020304" pitchFamily="18" charset="0"/>
                <a:ea typeface="Crimson Text Bold" pitchFamily="34" charset="-122"/>
                <a:cs typeface="Times New Roman" panose="02020603050405020304" pitchFamily="18" charset="0"/>
              </a:rPr>
              <a:t>Datasets Used: </a:t>
            </a:r>
            <a:r>
              <a:rPr lang="en-US" sz="1600" b="1" dirty="0">
                <a:solidFill>
                  <a:srgbClr val="F04D00"/>
                </a:solidFill>
                <a:latin typeface="Times New Roman" panose="02020603050405020304" pitchFamily="18" charset="0"/>
                <a:ea typeface="Crimson Text Bold" pitchFamily="34" charset="-122"/>
                <a:cs typeface="Times New Roman" panose="02020603050405020304" pitchFamily="18" charset="0"/>
              </a:rPr>
              <a:t>Sentiment &amp; Classification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426599" y="670024"/>
            <a:ext cx="13761958" cy="298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just"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We leverage carefully selected datasets to train our AI models for accurate sentiment analysis and ticket categorization.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34221" y="1196697"/>
            <a:ext cx="1861780" cy="197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just">
              <a:buNone/>
            </a:pPr>
            <a:r>
              <a:rPr lang="en-US" sz="1600" b="1" dirty="0">
                <a:solidFill>
                  <a:srgbClr val="000000"/>
                </a:solidFill>
                <a:latin typeface="Times New Roman" panose="02020603050405020304" pitchFamily="18" charset="0"/>
                <a:ea typeface="Crimson Text Bold" pitchFamily="34" charset="-122"/>
                <a:cs typeface="Times New Roman" panose="02020603050405020304" pitchFamily="18" charset="0"/>
              </a:rPr>
              <a:t>Sentiment Analysis Dataset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434221" y="1484114"/>
            <a:ext cx="6752392" cy="1022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just"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Used for detecting whether the customer's message is </a:t>
            </a:r>
            <a:r>
              <a:rPr lang="en-US" sz="1600" dirty="0">
                <a:solidFill>
                  <a:srgbClr val="F04D00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Positive / Negative / Neutral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426600" y="1749622"/>
            <a:ext cx="6880978" cy="3295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>
              <a:buSzPct val="100000"/>
            </a:pPr>
            <a:r>
              <a:rPr lang="en-US" sz="1600" b="1" dirty="0">
                <a:solidFill>
                  <a:srgbClr val="000000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Best Options: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 Twitter Sentiment Dataset (Kaggle), </a:t>
            </a:r>
          </a:p>
          <a:p>
            <a:pPr algn="just">
              <a:buSzPct val="100000"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Amazon Reviews Dataset (Kaggle)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434221" y="2288666"/>
            <a:ext cx="6752392" cy="5313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>
              <a:buSzPct val="100000"/>
            </a:pPr>
            <a:r>
              <a:rPr lang="en-US" sz="1600" b="1" dirty="0">
                <a:solidFill>
                  <a:srgbClr val="000000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Why We Use It: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 Text format closely matches customer complaints,</a:t>
            </a:r>
          </a:p>
          <a:p>
            <a:pPr algn="just">
              <a:buSzPct val="100000"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and data is pre-labeled for easy training with simple ML models.</a:t>
            </a:r>
          </a:p>
          <a:p>
            <a:pPr algn="just">
              <a:buSzPct val="100000"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221" y="3076575"/>
            <a:ext cx="5109329" cy="482810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451408" y="1196697"/>
            <a:ext cx="1948815" cy="197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just">
              <a:buNone/>
            </a:pPr>
            <a:r>
              <a:rPr lang="en-US" sz="1600" b="1" dirty="0">
                <a:solidFill>
                  <a:srgbClr val="000000"/>
                </a:solidFill>
                <a:latin typeface="Times New Roman" panose="02020603050405020304" pitchFamily="18" charset="0"/>
                <a:ea typeface="Crimson Text Bold" pitchFamily="34" charset="-122"/>
                <a:cs typeface="Times New Roman" panose="02020603050405020304" pitchFamily="18" charset="0"/>
              </a:rPr>
              <a:t>Ticket Classification Dataset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7451408" y="1484114"/>
            <a:ext cx="6752392" cy="236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just"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Utilized for predicting the precise type of support ticket, such as: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7451407" y="1720810"/>
            <a:ext cx="7017188" cy="3021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just">
              <a:buSzPct val="100000"/>
              <a:buChar char="•"/>
            </a:pPr>
            <a:r>
              <a:rPr lang="en-US" sz="1600" b="1" dirty="0">
                <a:solidFill>
                  <a:srgbClr val="000000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Categories: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 Technical Issue, Billing Issue, Account/Login Issue, General Query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7451408" y="1955840"/>
            <a:ext cx="6752392" cy="5195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just">
              <a:buSzPct val="100000"/>
              <a:buChar char="•"/>
            </a:pPr>
            <a:r>
              <a:rPr lang="en-US" sz="1600" b="1" dirty="0">
                <a:solidFill>
                  <a:srgbClr val="000000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Best Options: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 Customer Support Ticket Classification (Kaggle), </a:t>
            </a:r>
          </a:p>
          <a:p>
            <a:pPr algn="just">
              <a:buSzPct val="100000"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	              IT Helpdesk Ticket Dataset (Kaggle)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7451407" y="2427720"/>
            <a:ext cx="6873360" cy="5313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just">
              <a:buSzPct val="100000"/>
              <a:buChar char="•"/>
            </a:pPr>
            <a:r>
              <a:rPr lang="en-US" sz="1600" b="1" dirty="0">
                <a:solidFill>
                  <a:srgbClr val="000000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Why We Use It: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 Contains real helpdesk queries, clean text, </a:t>
            </a:r>
          </a:p>
          <a:p>
            <a:pPr algn="just">
              <a:buSzPct val="100000"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	                and is a perfect fit for our AI classification module.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67746" y="3076575"/>
            <a:ext cx="4892992" cy="482810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0FB411A-C0FF-3662-8930-2B48B9085BC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801600" y="7715177"/>
            <a:ext cx="1740222" cy="40548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838914"/>
            <a:ext cx="7414974" cy="637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Times New Roman" panose="02020603050405020304" pitchFamily="18" charset="0"/>
                <a:ea typeface="Crimson Text Bold" pitchFamily="34" charset="-122"/>
                <a:cs typeface="Times New Roman" panose="02020603050405020304" pitchFamily="18" charset="0"/>
              </a:rPr>
              <a:t>Datasets Used: </a:t>
            </a:r>
            <a:r>
              <a:rPr lang="en-US" sz="1600" b="1" dirty="0">
                <a:solidFill>
                  <a:srgbClr val="F04D00"/>
                </a:solidFill>
                <a:latin typeface="Times New Roman" panose="02020603050405020304" pitchFamily="18" charset="0"/>
                <a:ea typeface="Crimson Text Bold" pitchFamily="34" charset="-122"/>
                <a:cs typeface="Times New Roman" panose="02020603050405020304" pitchFamily="18" charset="0"/>
              </a:rPr>
              <a:t>Priority Prediction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6280190" y="1752362"/>
            <a:ext cx="7556421" cy="620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For predicting ticket priority, we rely on a combination of established and custom datasets to ensure relevance and accuracy.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2"/>
          <p:cNvSpPr/>
          <p:nvPr/>
        </p:nvSpPr>
        <p:spPr>
          <a:xfrm>
            <a:off x="6280190" y="2579608"/>
            <a:ext cx="7556421" cy="4810958"/>
          </a:xfrm>
          <a:prstGeom prst="roundRect">
            <a:avLst>
              <a:gd name="adj" fmla="val 1782"/>
            </a:avLst>
          </a:prstGeom>
          <a:solidFill>
            <a:srgbClr val="FFDCCC"/>
          </a:solidFill>
          <a:ln w="7620">
            <a:solidFill>
              <a:srgbClr val="E5C2B2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287810" y="2587228"/>
            <a:ext cx="3770590" cy="2524958"/>
          </a:xfrm>
          <a:prstGeom prst="roundRect">
            <a:avLst>
              <a:gd name="adj" fmla="val 3396"/>
            </a:avLst>
          </a:prstGeom>
          <a:solidFill>
            <a:srgbClr val="FFDCCC"/>
          </a:solidFill>
          <a:ln/>
        </p:spPr>
      </p:sp>
      <p:sp>
        <p:nvSpPr>
          <p:cNvPr id="7" name="Text 4"/>
          <p:cNvSpPr/>
          <p:nvPr/>
        </p:nvSpPr>
        <p:spPr>
          <a:xfrm>
            <a:off x="6491883" y="2791301"/>
            <a:ext cx="3362444" cy="7655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Times New Roman" panose="02020603050405020304" pitchFamily="18" charset="0"/>
                <a:ea typeface="Crimson Text Bold" pitchFamily="34" charset="-122"/>
                <a:cs typeface="Times New Roman" panose="02020603050405020304" pitchFamily="18" charset="0"/>
              </a:rPr>
              <a:t>Priority Prediction Dataset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6491883" y="3667006"/>
            <a:ext cx="3362444" cy="12411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Used to predict ticket priority as </a:t>
            </a:r>
            <a:r>
              <a:rPr lang="en-US" sz="1600" dirty="0">
                <a:solidFill>
                  <a:srgbClr val="F04D00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Low / Medium / High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, ensuring urgent issues are addressed promptly.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10058400" y="2587228"/>
            <a:ext cx="3770590" cy="2524958"/>
          </a:xfrm>
          <a:prstGeom prst="rect">
            <a:avLst/>
          </a:prstGeom>
          <a:solidFill>
            <a:srgbClr val="FFDCCC"/>
          </a:solidFill>
          <a:ln/>
        </p:spPr>
      </p:sp>
      <p:sp>
        <p:nvSpPr>
          <p:cNvPr id="10" name="Shape 7"/>
          <p:cNvSpPr/>
          <p:nvPr/>
        </p:nvSpPr>
        <p:spPr>
          <a:xfrm>
            <a:off x="10058400" y="2587228"/>
            <a:ext cx="22860" cy="2524958"/>
          </a:xfrm>
          <a:prstGeom prst="roundRect">
            <a:avLst>
              <a:gd name="adj" fmla="val 375070"/>
            </a:avLst>
          </a:prstGeom>
          <a:solidFill>
            <a:srgbClr val="E5C2B2"/>
          </a:solidFill>
          <a:ln/>
        </p:spPr>
      </p:sp>
      <p:sp>
        <p:nvSpPr>
          <p:cNvPr id="11" name="Text 8"/>
          <p:cNvSpPr/>
          <p:nvPr/>
        </p:nvSpPr>
        <p:spPr>
          <a:xfrm>
            <a:off x="10262473" y="2791301"/>
            <a:ext cx="3062168" cy="3827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Times New Roman" panose="02020603050405020304" pitchFamily="18" charset="0"/>
                <a:ea typeface="Crimson Text Bold" pitchFamily="34" charset="-122"/>
                <a:cs typeface="Times New Roman" panose="02020603050405020304" pitchFamily="18" charset="0"/>
              </a:rPr>
              <a:t>Best Options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10262473" y="3284220"/>
            <a:ext cx="3362444" cy="620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600" b="1" dirty="0">
                <a:solidFill>
                  <a:srgbClr val="000000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IT Ticket Severity Dataset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 (Kaggle)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10262473" y="3969067"/>
            <a:ext cx="3362444" cy="620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600" b="1" dirty="0">
                <a:solidFill>
                  <a:srgbClr val="000000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Custom Mini Dataset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 (100–150 labeled samples)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6287810" y="5112187"/>
            <a:ext cx="7541181" cy="2270760"/>
          </a:xfrm>
          <a:prstGeom prst="rect">
            <a:avLst/>
          </a:prstGeom>
          <a:solidFill>
            <a:srgbClr val="FFDCCC"/>
          </a:solidFill>
          <a:ln/>
        </p:spPr>
      </p:sp>
      <p:sp>
        <p:nvSpPr>
          <p:cNvPr id="15" name="Shape 12"/>
          <p:cNvSpPr/>
          <p:nvPr/>
        </p:nvSpPr>
        <p:spPr>
          <a:xfrm>
            <a:off x="6287810" y="5112187"/>
            <a:ext cx="7541181" cy="22860"/>
          </a:xfrm>
          <a:prstGeom prst="roundRect">
            <a:avLst>
              <a:gd name="adj" fmla="val 375070"/>
            </a:avLst>
          </a:prstGeom>
          <a:solidFill>
            <a:srgbClr val="E5C2B2"/>
          </a:solidFill>
          <a:ln/>
        </p:spPr>
      </p:sp>
      <p:sp>
        <p:nvSpPr>
          <p:cNvPr id="16" name="Text 13"/>
          <p:cNvSpPr/>
          <p:nvPr/>
        </p:nvSpPr>
        <p:spPr>
          <a:xfrm>
            <a:off x="6491883" y="5316260"/>
            <a:ext cx="3734991" cy="3827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Times New Roman" panose="02020603050405020304" pitchFamily="18" charset="0"/>
                <a:ea typeface="Crimson Text Bold" pitchFamily="34" charset="-122"/>
                <a:cs typeface="Times New Roman" panose="02020603050405020304" pitchFamily="18" charset="0"/>
              </a:rPr>
              <a:t>Why Custom Dataset Works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6491883" y="5809178"/>
            <a:ext cx="7133034" cy="310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Priority is often subjective, making smaller, tailored datasets effective.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6491883" y="6183749"/>
            <a:ext cx="7133034" cy="310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Simple ML models perform well without needing vast amounts of data.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6491883" y="6558320"/>
            <a:ext cx="7133034" cy="620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Allows for student-created datasets, fostering hands-on learning and customization.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56C590AB-4998-00D3-11D2-17464F3C41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54901" y="7797376"/>
            <a:ext cx="2187130" cy="30482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23781"/>
            <a:ext cx="6843951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4150"/>
              </a:lnSpc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 Implemented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1510546"/>
            <a:ext cx="13042821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Our system is designed with future growth in mind, with several key enhancements already identified for continuous improvement.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793790" y="1892141"/>
            <a:ext cx="13042821" cy="1020723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22860">
            <a:solidFill>
              <a:srgbClr val="E5C2B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16650" y="1915001"/>
            <a:ext cx="680442" cy="975003"/>
          </a:xfrm>
          <a:prstGeom prst="roundRect">
            <a:avLst>
              <a:gd name="adj" fmla="val 6469"/>
            </a:avLst>
          </a:prstGeom>
          <a:solidFill>
            <a:srgbClr val="FFDCCC"/>
          </a:solidFill>
          <a:ln/>
        </p:spPr>
      </p:sp>
      <p:sp>
        <p:nvSpPr>
          <p:cNvPr id="6" name="Text 4"/>
          <p:cNvSpPr/>
          <p:nvPr/>
        </p:nvSpPr>
        <p:spPr>
          <a:xfrm>
            <a:off x="1025485" y="2243018"/>
            <a:ext cx="255151" cy="318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Times New Roman" panose="02020603050405020304" pitchFamily="18" charset="0"/>
                <a:ea typeface="Crimson Text Bold" pitchFamily="34" charset="-122"/>
                <a:cs typeface="Times New Roman" panose="02020603050405020304" pitchFamily="18" charset="0"/>
              </a:rPr>
              <a:t>1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1624608" y="2085023"/>
            <a:ext cx="2373511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Times New Roman" panose="02020603050405020304" pitchFamily="18" charset="0"/>
                <a:ea typeface="Crimson Text Bold" pitchFamily="34" charset="-122"/>
                <a:cs typeface="Times New Roman" panose="02020603050405020304" pitchFamily="18" charset="0"/>
              </a:rPr>
              <a:t>Priority Prediction Model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1624608" y="2427208"/>
            <a:ext cx="12019121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Adding a machine learning model (e.g., Naive Bayes) to automatically assign ticket priority (Low, Medium, High) based on text content.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793790" y="3040380"/>
            <a:ext cx="13042821" cy="1020723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22860">
            <a:solidFill>
              <a:srgbClr val="E5C2B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16650" y="3063240"/>
            <a:ext cx="680442" cy="975003"/>
          </a:xfrm>
          <a:prstGeom prst="roundRect">
            <a:avLst>
              <a:gd name="adj" fmla="val 6469"/>
            </a:avLst>
          </a:prstGeom>
          <a:solidFill>
            <a:srgbClr val="FFDCCC"/>
          </a:solidFill>
          <a:ln/>
        </p:spPr>
      </p:sp>
      <p:sp>
        <p:nvSpPr>
          <p:cNvPr id="11" name="Text 9"/>
          <p:cNvSpPr/>
          <p:nvPr/>
        </p:nvSpPr>
        <p:spPr>
          <a:xfrm>
            <a:off x="1025485" y="3391257"/>
            <a:ext cx="255151" cy="318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Times New Roman" panose="02020603050405020304" pitchFamily="18" charset="0"/>
                <a:ea typeface="Crimson Text Bold" pitchFamily="34" charset="-122"/>
                <a:cs typeface="Times New Roman" panose="02020603050405020304" pitchFamily="18" charset="0"/>
              </a:rPr>
              <a:t>2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624608" y="3233261"/>
            <a:ext cx="2718673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Times New Roman" panose="02020603050405020304" pitchFamily="18" charset="0"/>
                <a:ea typeface="Crimson Text Bold" pitchFamily="34" charset="-122"/>
                <a:cs typeface="Times New Roman" panose="02020603050405020304" pitchFamily="18" charset="0"/>
              </a:rPr>
              <a:t>Improved Sentiment Analysis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624608" y="3575447"/>
            <a:ext cx="12019121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Upgrading the rule-based approach with lightweight, pre-trained models like VADER or TextBlob for more accurate emotion detection.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793790" y="4188619"/>
            <a:ext cx="13042821" cy="1020723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22860">
            <a:solidFill>
              <a:srgbClr val="E5C2B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16650" y="4211479"/>
            <a:ext cx="680442" cy="975003"/>
          </a:xfrm>
          <a:prstGeom prst="roundRect">
            <a:avLst>
              <a:gd name="adj" fmla="val 6469"/>
            </a:avLst>
          </a:prstGeom>
          <a:solidFill>
            <a:srgbClr val="FFDCCC"/>
          </a:solidFill>
          <a:ln/>
        </p:spPr>
      </p:sp>
      <p:sp>
        <p:nvSpPr>
          <p:cNvPr id="16" name="Text 14"/>
          <p:cNvSpPr/>
          <p:nvPr/>
        </p:nvSpPr>
        <p:spPr>
          <a:xfrm>
            <a:off x="1025485" y="4539496"/>
            <a:ext cx="255151" cy="318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Times New Roman" panose="02020603050405020304" pitchFamily="18" charset="0"/>
                <a:ea typeface="Crimson Text Bold" pitchFamily="34" charset="-122"/>
                <a:cs typeface="Times New Roman" panose="02020603050405020304" pitchFamily="18" charset="0"/>
              </a:rPr>
              <a:t>3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1624608" y="4381500"/>
            <a:ext cx="2969657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Times New Roman" panose="02020603050405020304" pitchFamily="18" charset="0"/>
                <a:ea typeface="Crimson Text Bold" pitchFamily="34" charset="-122"/>
                <a:cs typeface="Times New Roman" panose="02020603050405020304" pitchFamily="18" charset="0"/>
              </a:rPr>
              <a:t>Intent Classification for Chatbot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624608" y="4723686"/>
            <a:ext cx="12019121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Implementing a classifier to categorize user messages (General Query, Billing Issue, Technical Issue) for smarter chatbot responses.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793790" y="5336858"/>
            <a:ext cx="13042821" cy="1020723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22860">
            <a:solidFill>
              <a:srgbClr val="E5C2B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16650" y="5359717"/>
            <a:ext cx="680442" cy="975003"/>
          </a:xfrm>
          <a:prstGeom prst="roundRect">
            <a:avLst>
              <a:gd name="adj" fmla="val 6469"/>
            </a:avLst>
          </a:prstGeom>
          <a:solidFill>
            <a:srgbClr val="FFDCCC"/>
          </a:solidFill>
          <a:ln/>
        </p:spPr>
      </p:sp>
      <p:sp>
        <p:nvSpPr>
          <p:cNvPr id="21" name="Text 19"/>
          <p:cNvSpPr/>
          <p:nvPr/>
        </p:nvSpPr>
        <p:spPr>
          <a:xfrm>
            <a:off x="1025485" y="5687735"/>
            <a:ext cx="255151" cy="318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Times New Roman" panose="02020603050405020304" pitchFamily="18" charset="0"/>
                <a:ea typeface="Crimson Text Bold" pitchFamily="34" charset="-122"/>
                <a:cs typeface="Times New Roman" panose="02020603050405020304" pitchFamily="18" charset="0"/>
              </a:rPr>
              <a:t>4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1624608" y="5529739"/>
            <a:ext cx="2512219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Times New Roman" panose="02020603050405020304" pitchFamily="18" charset="0"/>
                <a:ea typeface="Crimson Text Bold" pitchFamily="34" charset="-122"/>
                <a:cs typeface="Times New Roman" panose="02020603050405020304" pitchFamily="18" charset="0"/>
              </a:rPr>
              <a:t>Admin Analytics Additions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1624608" y="5871924"/>
            <a:ext cx="12019121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Integrating Chart.js for advanced visualizations, including sentiment distribution, ticket trends, and category-based performance charts.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793790" y="6485096"/>
            <a:ext cx="13042821" cy="1020723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22860">
            <a:solidFill>
              <a:srgbClr val="E5C2B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6650" y="6507956"/>
            <a:ext cx="680442" cy="975003"/>
          </a:xfrm>
          <a:prstGeom prst="roundRect">
            <a:avLst>
              <a:gd name="adj" fmla="val 6469"/>
            </a:avLst>
          </a:prstGeom>
          <a:solidFill>
            <a:srgbClr val="FFDCCC"/>
          </a:solidFill>
          <a:ln/>
        </p:spPr>
      </p:sp>
      <p:sp>
        <p:nvSpPr>
          <p:cNvPr id="26" name="Text 24"/>
          <p:cNvSpPr/>
          <p:nvPr/>
        </p:nvSpPr>
        <p:spPr>
          <a:xfrm>
            <a:off x="1025485" y="6835973"/>
            <a:ext cx="255151" cy="318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Times New Roman" panose="02020603050405020304" pitchFamily="18" charset="0"/>
                <a:ea typeface="Crimson Text Bold" pitchFamily="34" charset="-122"/>
                <a:cs typeface="Times New Roman" panose="02020603050405020304" pitchFamily="18" charset="0"/>
              </a:rPr>
              <a:t>5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1624608" y="6677978"/>
            <a:ext cx="2416135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Times New Roman" panose="02020603050405020304" pitchFamily="18" charset="0"/>
                <a:ea typeface="Crimson Text Bold" pitchFamily="34" charset="-122"/>
                <a:cs typeface="Times New Roman" panose="02020603050405020304" pitchFamily="18" charset="0"/>
              </a:rPr>
              <a:t>Email Notification System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1624608" y="7020163"/>
            <a:ext cx="12019121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Developing a feature to send automated email alerts to users regarding ticket creation and status updates.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0BDFA115-DE77-5F2F-A74C-EAB564CE47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60359" y="7686602"/>
            <a:ext cx="3281463" cy="45734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93079" y="103822"/>
            <a:ext cx="4211321" cy="808355"/>
          </a:xfrm>
        </p:spPr>
        <p:txBody>
          <a:bodyPr>
            <a:normAutofit fontScale="90000"/>
          </a:bodyPr>
          <a:lstStyle/>
          <a:p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Paper</a:t>
            </a:r>
            <a:endParaRPr sz="4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04720" y="1097281"/>
            <a:ext cx="9875520" cy="662432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16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C. S. Kanimozhi Selvi, S. J. Shri, R. </a:t>
            </a:r>
            <a:r>
              <a:rPr lang="en-IN" sz="168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Prasshanthini</a:t>
            </a:r>
            <a:r>
              <a:rPr lang="en-IN" sz="16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N. Neelamegan and R. Sanjay, “Customer Support Ticket Categorization and Prioritization Using Natural Language Processing,” in Proc. 3rd Int. Conf. Futuristic Technology (INCOFT), 2025. :</a:t>
            </a:r>
            <a:r>
              <a:rPr lang="en-IN" sz="168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contentReference</a:t>
            </a:r>
            <a:r>
              <a:rPr lang="en-IN" sz="16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[oaicite:7]{index=7}</a:t>
            </a:r>
          </a:p>
          <a:p>
            <a:pPr marL="0" indent="0">
              <a:buNone/>
            </a:pPr>
            <a:endParaRPr lang="en-IN" sz="16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16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 R. Jayadi, “Sentiment Analysis of Digital Customer Service Helpdesk Tickets: A Comparison between BERT and SVM,” Proc. 2024 Int. Conf. Computer Eng., Network, and Intelligent Multimedia (CENIM), 2024. :</a:t>
            </a:r>
            <a:r>
              <a:rPr lang="en-IN" sz="168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contentReference</a:t>
            </a:r>
            <a:r>
              <a:rPr lang="en-IN" sz="16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[oaicite:8]{index=8}</a:t>
            </a:r>
          </a:p>
          <a:p>
            <a:pPr marL="0" indent="0">
              <a:buNone/>
            </a:pPr>
            <a:endParaRPr lang="en-IN" sz="16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16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[3] N. Koka, “Enhancing a Ticketing System with AI Intelligence,” IJERT, vol. 13, no. 07, Jul. 2024. :</a:t>
            </a:r>
            <a:r>
              <a:rPr lang="en-IN" sz="168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contentReference</a:t>
            </a:r>
            <a:r>
              <a:rPr lang="en-IN" sz="16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[oaicite:9]{index=9}</a:t>
            </a:r>
          </a:p>
          <a:p>
            <a:pPr marL="0" indent="0">
              <a:buNone/>
            </a:pPr>
            <a:endParaRPr lang="en-IN" sz="16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16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[4] P. Kumari et al., “Online Chatbot Based Ticketing System,” Int. J. Sci. Res. &amp; Eng. Trends (IJSRET), vol. 10, no. 6, Nov-Dec 2024. :</a:t>
            </a:r>
            <a:r>
              <a:rPr lang="en-IN" sz="168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contentReference</a:t>
            </a:r>
            <a:r>
              <a:rPr lang="en-IN" sz="16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[oaicite:10]{index=10}</a:t>
            </a:r>
          </a:p>
          <a:p>
            <a:pPr marL="0" indent="0">
              <a:buNone/>
            </a:pPr>
            <a:endParaRPr lang="en-IN" sz="16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16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[5] S. Uzan, D. Freud, and A. Elalouf, “Optimizing Chatbots to Improve Customer Experience and Satisfaction,” *Appl. Sci.*, vol. 15, no. 17, 2025. :</a:t>
            </a:r>
            <a:r>
              <a:rPr lang="en-IN" sz="168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contentReference</a:t>
            </a:r>
            <a:r>
              <a:rPr lang="en-IN" sz="16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[oaicite:11]{index=11}</a:t>
            </a:r>
          </a:p>
          <a:p>
            <a:pPr marL="0" indent="0">
              <a:buNone/>
            </a:pPr>
            <a:endParaRPr lang="en-IN" sz="16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16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[6] S. Hewage </a:t>
            </a:r>
            <a:r>
              <a:rPr lang="en-IN" sz="168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Wewelwala</a:t>
            </a:r>
            <a:r>
              <a:rPr lang="en-IN" sz="16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T. G. D. K. </a:t>
            </a:r>
            <a:r>
              <a:rPr lang="en-IN" sz="168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Sumanathilaka</a:t>
            </a:r>
            <a:r>
              <a:rPr lang="en-IN" sz="16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“Hybrid Emotion Recognition: Enhancing Customer Interactions Through Acoustic and Textual Analysis,” *</a:t>
            </a:r>
            <a:r>
              <a:rPr lang="en-IN" sz="168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arXiv</a:t>
            </a:r>
            <a:r>
              <a:rPr lang="en-IN" sz="16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*, 2025. :</a:t>
            </a:r>
            <a:r>
              <a:rPr lang="en-IN" sz="168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contentReference</a:t>
            </a:r>
            <a:r>
              <a:rPr lang="en-IN" sz="16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[oaicite:12]{index=12}</a:t>
            </a:r>
          </a:p>
          <a:p>
            <a:pPr marL="0" indent="0">
              <a:buNone/>
            </a:pPr>
            <a:endParaRPr lang="en-IN" sz="16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16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[7] M. Truss and S. Boehm, “AI-based Classification of Customer Support Tickets: State of the Art and Implementation with </a:t>
            </a:r>
            <a:r>
              <a:rPr lang="en-IN" sz="168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AutoML</a:t>
            </a:r>
            <a:r>
              <a:rPr lang="en-IN" sz="16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,” *</a:t>
            </a:r>
            <a:r>
              <a:rPr lang="en-IN" sz="168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arXiv</a:t>
            </a:r>
            <a:r>
              <a:rPr lang="en-IN" sz="16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*, 2024. :</a:t>
            </a:r>
            <a:r>
              <a:rPr lang="en-IN" sz="168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contentReference</a:t>
            </a:r>
            <a:r>
              <a:rPr lang="en-IN" sz="16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[oaicite:13]{index=13}</a:t>
            </a:r>
          </a:p>
          <a:p>
            <a:pPr marL="0" indent="0">
              <a:buNone/>
            </a:pPr>
            <a:endParaRPr lang="en-US" sz="168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3257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86527" y="618053"/>
            <a:ext cx="7570946" cy="11234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3500" b="1" dirty="0">
                <a:solidFill>
                  <a:srgbClr val="F04D00"/>
                </a:solidFill>
                <a:latin typeface="Crimson Text Bold" pitchFamily="34" charset="0"/>
                <a:ea typeface="Crimson Text Bold" pitchFamily="34" charset="-122"/>
                <a:cs typeface="Crimson Text Bold" pitchFamily="34" charset="-120"/>
              </a:rPr>
              <a:t>Conclusion</a:t>
            </a:r>
            <a:r>
              <a:rPr lang="en-US" sz="3500" b="1" dirty="0">
                <a:solidFill>
                  <a:srgbClr val="000000"/>
                </a:solidFill>
                <a:latin typeface="Crimson Text Bold" pitchFamily="34" charset="0"/>
                <a:ea typeface="Crimson Text Bold" pitchFamily="34" charset="-122"/>
                <a:cs typeface="Crimson Text Bold" pitchFamily="34" charset="-120"/>
              </a:rPr>
              <a:t>: A Future-Ready Support System</a:t>
            </a:r>
            <a:endParaRPr lang="en-US" sz="3500" dirty="0"/>
          </a:p>
        </p:txBody>
      </p:sp>
      <p:sp>
        <p:nvSpPr>
          <p:cNvPr id="4" name="Text 1"/>
          <p:cNvSpPr/>
          <p:nvPr/>
        </p:nvSpPr>
        <p:spPr>
          <a:xfrm>
            <a:off x="786527" y="1957268"/>
            <a:ext cx="7570946" cy="5176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Our project delivers a modern AI-powered customer support system that significantly improves response speed and operational efficiency.</a:t>
            </a:r>
            <a:endParaRPr lang="en-US" sz="14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527" y="2636758"/>
            <a:ext cx="898922" cy="1064657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829276" y="2636758"/>
            <a:ext cx="2793563" cy="280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Crimson Text Bold" pitchFamily="34" charset="0"/>
                <a:ea typeface="Crimson Text Bold" pitchFamily="34" charset="-122"/>
                <a:cs typeface="Crimson Text Bold" pitchFamily="34" charset="-120"/>
              </a:rPr>
              <a:t>Enhanced Speed &amp; Efficiency</a:t>
            </a:r>
            <a:endParaRPr lang="en-US" sz="1750" dirty="0"/>
          </a:p>
        </p:txBody>
      </p:sp>
      <p:sp>
        <p:nvSpPr>
          <p:cNvPr id="7" name="Text 3"/>
          <p:cNvSpPr/>
          <p:nvPr/>
        </p:nvSpPr>
        <p:spPr>
          <a:xfrm>
            <a:off x="1829276" y="3003947"/>
            <a:ext cx="6528197" cy="5176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Automates ticket creation and streamlines workflows, drastically reducing manual effort.</a:t>
            </a:r>
            <a:endParaRPr lang="en-US" sz="14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6527" y="3881199"/>
            <a:ext cx="898922" cy="1064657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829276" y="3881199"/>
            <a:ext cx="2734508" cy="280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Crimson Text Bold" pitchFamily="34" charset="0"/>
                <a:ea typeface="Crimson Text Bold" pitchFamily="34" charset="-122"/>
                <a:cs typeface="Crimson Text Bold" pitchFamily="34" charset="-120"/>
              </a:rPr>
              <a:t>Intelligent Decision-Making</a:t>
            </a:r>
            <a:endParaRPr lang="en-US" sz="1750" dirty="0"/>
          </a:p>
        </p:txBody>
      </p:sp>
      <p:sp>
        <p:nvSpPr>
          <p:cNvPr id="10" name="Text 5"/>
          <p:cNvSpPr/>
          <p:nvPr/>
        </p:nvSpPr>
        <p:spPr>
          <a:xfrm>
            <a:off x="1829276" y="4248388"/>
            <a:ext cx="6528197" cy="5176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Leverages AI analytics for sentiment, intent, and priority to empower informed strategic choices.</a:t>
            </a:r>
            <a:endParaRPr lang="en-US" sz="14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6527" y="5125641"/>
            <a:ext cx="898922" cy="1064657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829276" y="5125641"/>
            <a:ext cx="2989421" cy="280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Crimson Text Bold" pitchFamily="34" charset="0"/>
                <a:ea typeface="Crimson Text Bold" pitchFamily="34" charset="-122"/>
                <a:cs typeface="Crimson Text Bold" pitchFamily="34" charset="-120"/>
              </a:rPr>
              <a:t>Practical &amp; Enterprise-Capable</a:t>
            </a:r>
            <a:endParaRPr lang="en-US" sz="1750" dirty="0"/>
          </a:p>
        </p:txBody>
      </p:sp>
      <p:sp>
        <p:nvSpPr>
          <p:cNvPr id="13" name="Text 7"/>
          <p:cNvSpPr/>
          <p:nvPr/>
        </p:nvSpPr>
        <p:spPr>
          <a:xfrm>
            <a:off x="1829276" y="5492829"/>
            <a:ext cx="6528197" cy="5176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Combines full-stack technologies with advanced AI, providing a robust solution for real-world industry needs.</a:t>
            </a:r>
            <a:endParaRPr lang="en-US" sz="140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6527" y="6370082"/>
            <a:ext cx="898922" cy="1064657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1829276" y="6370082"/>
            <a:ext cx="2247424" cy="280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Crimson Text Bold" pitchFamily="34" charset="0"/>
                <a:ea typeface="Crimson Text Bold" pitchFamily="34" charset="-122"/>
                <a:cs typeface="Crimson Text Bold" pitchFamily="34" charset="-120"/>
              </a:rPr>
              <a:t>Modular &amp; Scalable</a:t>
            </a:r>
            <a:endParaRPr lang="en-US" sz="1750" dirty="0"/>
          </a:p>
        </p:txBody>
      </p:sp>
      <p:sp>
        <p:nvSpPr>
          <p:cNvPr id="16" name="Text 9"/>
          <p:cNvSpPr/>
          <p:nvPr/>
        </p:nvSpPr>
        <p:spPr>
          <a:xfrm>
            <a:off x="1829276" y="6737271"/>
            <a:ext cx="6528197" cy="5176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Built for easy integration of new features and advanced AI models, ensuring long-term adaptability and performance.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TM04033925[[fn=Droplet]]</Template>
  <TotalTime>1676</TotalTime>
  <Words>1421</Words>
  <Application>Microsoft Office PowerPoint</Application>
  <PresentationFormat>Custom</PresentationFormat>
  <Paragraphs>151</Paragraphs>
  <Slides>11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Algerian</vt:lpstr>
      <vt:lpstr>Times New Roman</vt:lpstr>
      <vt:lpstr>Crimson Text Bold</vt:lpstr>
      <vt:lpstr>Inter</vt:lpstr>
      <vt:lpstr>Arial</vt:lpstr>
      <vt:lpstr>Office Theme</vt:lpstr>
      <vt:lpstr>AI Smart Customer Support</vt:lpstr>
      <vt:lpstr>PowerPoint Presentation</vt:lpstr>
      <vt:lpstr>PowerPoint Presentation</vt:lpstr>
      <vt:lpstr>PowerPoint Presentation</vt:lpstr>
      <vt:lpstr>Technology Stack</vt:lpstr>
      <vt:lpstr>Technology Stack</vt:lpstr>
      <vt:lpstr>PowerPoint Presentation</vt:lpstr>
      <vt:lpstr>PowerPoint Presentation</vt:lpstr>
      <vt:lpstr>PowerPoint Presentation</vt:lpstr>
      <vt:lpstr>Research Paper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SWARUPANAND BAJBALKAR</cp:lastModifiedBy>
  <cp:revision>7</cp:revision>
  <dcterms:created xsi:type="dcterms:W3CDTF">2026-01-22T09:00:37Z</dcterms:created>
  <dcterms:modified xsi:type="dcterms:W3CDTF">2026-01-24T06:38:49Z</dcterms:modified>
</cp:coreProperties>
</file>